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Добрый день. Мы сделали сервис, который по свободному описанию товара находит код КТРУ, заполняет характеристики и показывает ошибки с объяснением. Категории: одежда, мебель, инструменты.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Боль поставщика: огромный справочник, сложные характеристики, единицы измерения, опечатки. Ошибка в карточке - возврат и потеря времени. Нужен помощник, который объясняет, а не просто подставляет.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Цель - от текста к коду с объяснением. Ключевое решение: детерминированный конвейер без LLM на горячем пути - быстро, воспроизводимо, объяснимо.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ETL разбирает XML в SQLite и собирает индекс. Выгрузки СТЕ используем как вспомогательные данные и для измерения качества.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блока: фронт на React, stateless бэкенд на FastAPI за nginx, офлайн ETL. Индекс read-only грузится в память - реплики масштабируются горизонтально. VRAM 0 ГБ.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Процесс от ввода до заполненной СТЕ. Развилки: код однозначен - показываем; иначе кандидаты и рекомендации с циклом уточнения; не найдено - подсказки исправления. Внизу ETL обновления КТРУ.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Каждый шаг детерминирован и логируется в ответ: reason и confidence. Рекомендации выбирают характеристику, которая лучше всего делит оставшихся кандидатов.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Девять типов ошибок. Для каждой показываем фрагмент в тексте, предлагаем замену и объясняем причину правилом справочника. Пользователь принимает или отклоняет.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Подсветка распознанных фрагментов, редактируемая таблица, воронка сужения, ошибки и рекомендации. Обновляется по мере ввода без перезагрузки.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Назвать цифры из eval/report.md: точность кода, топ-3, извлечение характеристик, доля найденных ошибок и ложные срабатывания, p95 задержки.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Нагрузка растёт - добавляем реплики. Без LLM нет GPU и очередей. Опциональный e5-small 118M параметров на CPU. Все ограничения хакатона соблюдены.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Роли в команде и дорожная карта: реальное обновление КТРУ из ЕИС, обучение на разметке, расширение на весь справочник и встраивание в портал. Спасибо, готовы к вопросам.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"/>
          <p:cNvSpPr/>
          <p:nvPr/>
        </p:nvSpPr>
        <p:spPr>
          <a:xfrm>
            <a:off x="548640" y="1097280"/>
            <a:ext cx="822960" cy="822960"/>
          </a:xfrm>
          <a:prstGeom prst="rect">
            <a:avLst/>
          </a:prstGeom>
          <a:solidFill>
            <a:srgbClr val="DB2B2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10972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КТРУ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0312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Автозаполнение характеристик СТЕ по КТРУ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5661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Tender Hack · Казань · Портал поставщиков zakupki.mos.ru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206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[Команда] · [Дата]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Проблема: ручное заполнение СТЕ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2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589520" y="47548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B2B21"/>
                </a:solidFill>
              </a:rPr>
              <a:t>5 мин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49377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Поставщик вручную подбирает код из ~81 тыс. позиций КТРУ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Характеристики: десятки полей, разные единицы (г/кг, мм/см)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Опечатки и неверные значения - отклонение карточки, потеря времени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Неясно, чего не хватает для однозначного кода</a:t>
            </a:r>
            <a:endParaRPr lang="en-US" sz="1800" dirty="0"/>
          </a:p>
        </p:txBody>
      </p:sp>
      <p:sp>
        <p:nvSpPr>
          <p:cNvPr id="6" name="stat0"/>
          <p:cNvSpPr/>
          <p:nvPr/>
        </p:nvSpPr>
        <p:spPr>
          <a:xfrm>
            <a:off x="5760720" y="1097280"/>
            <a:ext cx="29260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5852160" y="11887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B2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~81 тыс.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5852160" y="165049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позиций КТРУ</a:t>
            </a:r>
            <a:endParaRPr lang="en-US" sz="1400" dirty="0"/>
          </a:p>
        </p:txBody>
      </p:sp>
      <p:sp>
        <p:nvSpPr>
          <p:cNvPr id="9" name="stat1"/>
          <p:cNvSpPr/>
          <p:nvPr/>
        </p:nvSpPr>
        <p:spPr>
          <a:xfrm>
            <a:off x="5760720" y="2286000"/>
            <a:ext cx="29260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5852160" y="23774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B2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5852160" y="283921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категории в v1</a:t>
            </a:r>
            <a:endParaRPr lang="en-US" sz="1400" dirty="0"/>
          </a:p>
        </p:txBody>
      </p:sp>
      <p:sp>
        <p:nvSpPr>
          <p:cNvPr id="12" name="stat2"/>
          <p:cNvSpPr/>
          <p:nvPr/>
        </p:nvSpPr>
        <p:spPr>
          <a:xfrm>
            <a:off x="5760720" y="3474720"/>
            <a:ext cx="29260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5852160" y="35661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B2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5852160" y="402793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типов ошибок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и решение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97280"/>
            <a:ext cx="82296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Свободный текст -&gt; код КТРУ + унифицированные характеристики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Пошаговое сужение кандидатов и конкретные подсказки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Ошибки: где, какая, как исправить и почему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Только открытые методы, CPU, миллисекунды, без LLM и платных API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Данные: КТРУ как источник истины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4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97280"/>
            <a:ext cx="82296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Актуальный КТРУ (XML ЕИС), ~81 тыс. позиций; фильтр ACTIVE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Скоуп: одежда, мебель, инструменты (~15-20 тыс.)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Характеристики, допустимые значения и диапазоны, ОКЕИ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xlsx-выгрузки СТЕ: синонимы и эталон для оценки; при расхождении приоритет КТРУ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5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589520" y="47548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B2B21"/>
                </a:solidFill>
              </a:rPr>
              <a:t>5 мин</a:t>
            </a:r>
            <a:endParaRPr lang="en-US" sz="1000" dirty="0"/>
          </a:p>
        </p:txBody>
      </p:sp>
      <p:pic>
        <p:nvPicPr>
          <p:cNvPr id="5" name="Image 0" descr="Архитектур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2716" y="1051560"/>
            <a:ext cx="7778568" cy="33832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43484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SPA -&gt; nginx -&gt; stateless FastAPI-реплики -&gt; read-only индекс в памяти; ETL офлайн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 процесса (BPMN 2.0)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6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589520" y="47548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B2B21"/>
                </a:solidFill>
              </a:rPr>
              <a:t>5 мин</a:t>
            </a:r>
            <a:endParaRPr lang="en-US" sz="1000" dirty="0"/>
          </a:p>
        </p:txBody>
      </p:sp>
      <p:pic>
        <p:nvPicPr>
          <p:cNvPr id="5" name="Image 0" descr="Схема процесса (BPMN 2.0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9112" y="1051560"/>
            <a:ext cx="8105775" cy="33832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43484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Дорожки: поставщик, веб-интерфейс, сервис анализа; отдельный пул ETL. Файл: docs/bpmn/process.bpmn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Алгоритм в 5 шагов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7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589520" y="47548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B2B21"/>
                </a:solidFill>
              </a:rPr>
              <a:t>5 мин</a:t>
            </a:r>
            <a:endParaRPr lang="en-US" sz="1000" dirty="0"/>
          </a:p>
        </p:txBody>
      </p:sp>
      <p:sp>
        <p:nvSpPr>
          <p:cNvPr id="5" name="step0"/>
          <p:cNvSpPr/>
          <p:nvPr/>
        </p:nvSpPr>
        <p:spPr>
          <a:xfrm>
            <a:off x="457200" y="1371600"/>
            <a:ext cx="1554480" cy="265176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num0"/>
          <p:cNvSpPr/>
          <p:nvPr/>
        </p:nvSpPr>
        <p:spPr>
          <a:xfrm>
            <a:off x="594360" y="1508760"/>
            <a:ext cx="457200" cy="457200"/>
          </a:xfrm>
          <a:prstGeom prst="ellipse">
            <a:avLst/>
          </a:prstGeom>
          <a:solidFill>
            <a:srgbClr val="DB2B2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9436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0312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Нормализация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788920"/>
            <a:ext cx="1280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раскладка, опечатки, числа, единицы</a:t>
            </a:r>
            <a:endParaRPr lang="en-US" sz="1300" dirty="0"/>
          </a:p>
        </p:txBody>
      </p:sp>
      <p:sp>
        <p:nvSpPr>
          <p:cNvPr id="10" name="step1"/>
          <p:cNvSpPr/>
          <p:nvPr/>
        </p:nvSpPr>
        <p:spPr>
          <a:xfrm>
            <a:off x="2121408" y="1371600"/>
            <a:ext cx="1554480" cy="265176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num1"/>
          <p:cNvSpPr/>
          <p:nvPr/>
        </p:nvSpPr>
        <p:spPr>
          <a:xfrm>
            <a:off x="2258568" y="1508760"/>
            <a:ext cx="457200" cy="457200"/>
          </a:xfrm>
          <a:prstGeom prst="ellipse">
            <a:avLst/>
          </a:prstGeom>
          <a:solidFill>
            <a:srgbClr val="DB2B2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258568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2258568" y="210312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Категория и кандидаты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2258568" y="2788920"/>
            <a:ext cx="1280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 + fuzzy, опц. e5-small</a:t>
            </a:r>
            <a:endParaRPr lang="en-US" sz="1300" dirty="0"/>
          </a:p>
        </p:txBody>
      </p:sp>
      <p:sp>
        <p:nvSpPr>
          <p:cNvPr id="15" name="step2"/>
          <p:cNvSpPr/>
          <p:nvPr/>
        </p:nvSpPr>
        <p:spPr>
          <a:xfrm>
            <a:off x="3785616" y="1371600"/>
            <a:ext cx="1554480" cy="265176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num2"/>
          <p:cNvSpPr/>
          <p:nvPr/>
        </p:nvSpPr>
        <p:spPr>
          <a:xfrm>
            <a:off x="3922776" y="1508760"/>
            <a:ext cx="457200" cy="457200"/>
          </a:xfrm>
          <a:prstGeom prst="ellipse">
            <a:avLst/>
          </a:prstGeom>
          <a:solidFill>
            <a:srgbClr val="DB2B2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92277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3922776" y="210312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Извлечение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3922776" y="2788920"/>
            <a:ext cx="1280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характеристики и приведение к ОКЕИ</a:t>
            </a:r>
            <a:endParaRPr lang="en-US" sz="1300" dirty="0"/>
          </a:p>
        </p:txBody>
      </p:sp>
      <p:sp>
        <p:nvSpPr>
          <p:cNvPr id="20" name="step3"/>
          <p:cNvSpPr/>
          <p:nvPr/>
        </p:nvSpPr>
        <p:spPr>
          <a:xfrm>
            <a:off x="5449824" y="1371600"/>
            <a:ext cx="1554480" cy="265176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num3"/>
          <p:cNvSpPr/>
          <p:nvPr/>
        </p:nvSpPr>
        <p:spPr>
          <a:xfrm>
            <a:off x="5586984" y="1508760"/>
            <a:ext cx="457200" cy="457200"/>
          </a:xfrm>
          <a:prstGeom prst="ellipse">
            <a:avLst/>
          </a:prstGeom>
          <a:solidFill>
            <a:srgbClr val="DB2B2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586984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5586984" y="210312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Сужение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5586984" y="2788920"/>
            <a:ext cx="1280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фильтр кандидатов, воронка</a:t>
            </a:r>
            <a:endParaRPr lang="en-US" sz="1300" dirty="0"/>
          </a:p>
        </p:txBody>
      </p:sp>
      <p:sp>
        <p:nvSpPr>
          <p:cNvPr id="25" name="step4"/>
          <p:cNvSpPr/>
          <p:nvPr/>
        </p:nvSpPr>
        <p:spPr>
          <a:xfrm>
            <a:off x="7114032" y="1371600"/>
            <a:ext cx="1554480" cy="265176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num4"/>
          <p:cNvSpPr/>
          <p:nvPr/>
        </p:nvSpPr>
        <p:spPr>
          <a:xfrm>
            <a:off x="7251192" y="1508760"/>
            <a:ext cx="457200" cy="457200"/>
          </a:xfrm>
          <a:prstGeom prst="ellipse">
            <a:avLst/>
          </a:prstGeom>
          <a:solidFill>
            <a:srgbClr val="DB2B21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251192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7251192" y="210312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Валидация и подсказки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7251192" y="2788920"/>
            <a:ext cx="1280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ошибки с обоснованием, информационный выигрыш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Распознавание ошибок: 9 типов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8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589520" y="47548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B2B21"/>
                </a:solidFill>
              </a:rPr>
              <a:t>5 мин</a:t>
            </a:r>
            <a:endParaRPr lang="en-US" sz="1000" dirty="0"/>
          </a:p>
        </p:txBody>
      </p:sp>
      <p:sp>
        <p:nvSpPr>
          <p:cNvPr id="5" name="err0"/>
          <p:cNvSpPr/>
          <p:nvPr/>
        </p:nvSpPr>
        <p:spPr>
          <a:xfrm>
            <a:off x="457200" y="109728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594360" y="11704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B2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typo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554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«молотог» -&gt; «молоток»</a:t>
            </a:r>
            <a:endParaRPr lang="en-US" sz="1300" dirty="0"/>
          </a:p>
        </p:txBody>
      </p:sp>
      <p:sp>
        <p:nvSpPr>
          <p:cNvPr id="8" name="err1"/>
          <p:cNvSpPr/>
          <p:nvPr/>
        </p:nvSpPr>
        <p:spPr>
          <a:xfrm>
            <a:off x="3246120" y="109728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383280" y="11704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B2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383280" y="1554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«vjkjnjr» -&gt; «молоток»</a:t>
            </a:r>
            <a:endParaRPr lang="en-US" sz="1300" dirty="0"/>
          </a:p>
        </p:txBody>
      </p:sp>
      <p:sp>
        <p:nvSpPr>
          <p:cNvPr id="11" name="err2"/>
          <p:cNvSpPr/>
          <p:nvPr/>
        </p:nvSpPr>
        <p:spPr>
          <a:xfrm>
            <a:off x="6035040" y="109728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172200" y="11704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B2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unit_mismatch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172200" y="1554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длина в кг</a:t>
            </a:r>
            <a:endParaRPr lang="en-US" sz="1300" dirty="0"/>
          </a:p>
        </p:txBody>
      </p:sp>
      <p:sp>
        <p:nvSpPr>
          <p:cNvPr id="14" name="err3"/>
          <p:cNvSpPr/>
          <p:nvPr/>
        </p:nvSpPr>
        <p:spPr>
          <a:xfrm>
            <a:off x="457200" y="214884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594360" y="222199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B2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value_not_allowed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2606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значение вне списка КТРУ</a:t>
            </a:r>
            <a:endParaRPr lang="en-US" sz="1300" dirty="0"/>
          </a:p>
        </p:txBody>
      </p:sp>
      <p:sp>
        <p:nvSpPr>
          <p:cNvPr id="17" name="err4"/>
          <p:cNvSpPr/>
          <p:nvPr/>
        </p:nvSpPr>
        <p:spPr>
          <a:xfrm>
            <a:off x="3246120" y="214884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3383280" y="222199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B2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out_of_range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3383280" y="2606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размер вне интервала</a:t>
            </a:r>
            <a:endParaRPr lang="en-US" sz="1300" dirty="0"/>
          </a:p>
        </p:txBody>
      </p:sp>
      <p:sp>
        <p:nvSpPr>
          <p:cNvPr id="20" name="err5"/>
          <p:cNvSpPr/>
          <p:nvPr/>
        </p:nvSpPr>
        <p:spPr>
          <a:xfrm>
            <a:off x="6035040" y="214884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172200" y="222199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B2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missing_required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172200" y="2606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обязательной</a:t>
            </a:r>
            <a:endParaRPr lang="en-US" sz="1300" dirty="0"/>
          </a:p>
        </p:txBody>
      </p:sp>
      <p:sp>
        <p:nvSpPr>
          <p:cNvPr id="23" name="err6"/>
          <p:cNvSpPr/>
          <p:nvPr/>
        </p:nvSpPr>
        <p:spPr>
          <a:xfrm>
            <a:off x="457200" y="320040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594360" y="32735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B2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contradiction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36576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разных товара</a:t>
            </a:r>
            <a:endParaRPr lang="en-US" sz="1300" dirty="0"/>
          </a:p>
        </p:txBody>
      </p:sp>
      <p:sp>
        <p:nvSpPr>
          <p:cNvPr id="26" name="err7"/>
          <p:cNvSpPr/>
          <p:nvPr/>
        </p:nvSpPr>
        <p:spPr>
          <a:xfrm>
            <a:off x="3246120" y="320040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3383280" y="32735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B2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unknown_characteristic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3383280" y="36576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в КТРУ</a:t>
            </a:r>
            <a:endParaRPr lang="en-US" sz="1300" dirty="0"/>
          </a:p>
        </p:txBody>
      </p:sp>
      <p:sp>
        <p:nvSpPr>
          <p:cNvPr id="29" name="err8"/>
          <p:cNvSpPr/>
          <p:nvPr/>
        </p:nvSpPr>
        <p:spPr>
          <a:xfrm>
            <a:off x="6035040" y="320040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6172200" y="32735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B2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category_mismatch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172200" y="36576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наша категория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443484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каждой ошибки: фрагмент, тип, исправление, обоснование со ссылкой на КТРУ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Интерфейс в стиле Портала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9</a:t>
            </a:r>
            <a:endParaRPr lang="en-US" sz="1000" dirty="0"/>
          </a:p>
        </p:txBody>
      </p:sp>
      <p:pic>
        <p:nvPicPr>
          <p:cNvPr id="4" name="Image 0" descr="ui-resolv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2543228" cy="2834640"/>
          </a:xfrm>
          <a:prstGeom prst="rect">
            <a:avLst/>
          </a:prstGeom>
        </p:spPr>
      </p:pic>
      <p:pic>
        <p:nvPicPr>
          <p:cNvPr id="5" name="Image 1" descr="ui-ambiguo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7588" y="1051560"/>
            <a:ext cx="3014684" cy="2834640"/>
          </a:xfrm>
          <a:prstGeom prst="rect">
            <a:avLst/>
          </a:prstGeom>
        </p:spPr>
      </p:pic>
      <p:pic>
        <p:nvPicPr>
          <p:cNvPr id="6" name="Image 2" descr="ui-erro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9432" y="1051560"/>
            <a:ext cx="2840558" cy="283464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457200" y="443484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 определён · неоднозначно (воронка и рекомендации) · ошибки с подсветкой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Результаты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10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589520" y="47548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B2B21"/>
                </a:solidFill>
              </a:rPr>
              <a:t>5 мин</a:t>
            </a:r>
            <a:endParaRPr lang="en-US" sz="1000" dirty="0"/>
          </a:p>
        </p:txBody>
      </p:sp>
      <p:sp>
        <p:nvSpPr>
          <p:cNvPr id="5" name="stat0"/>
          <p:cNvSpPr/>
          <p:nvPr/>
        </p:nvSpPr>
        <p:spPr>
          <a:xfrm>
            <a:off x="457200" y="1463040"/>
            <a:ext cx="187452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548640" y="155448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B2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{{TOP1}}%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368296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Top-1 код КТРУ</a:t>
            </a:r>
            <a:endParaRPr lang="en-US" sz="1400" dirty="0"/>
          </a:p>
        </p:txBody>
      </p:sp>
      <p:sp>
        <p:nvSpPr>
          <p:cNvPr id="8" name="stat1"/>
          <p:cNvSpPr/>
          <p:nvPr/>
        </p:nvSpPr>
        <p:spPr>
          <a:xfrm>
            <a:off x="2514600" y="1463040"/>
            <a:ext cx="187452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2606040" y="155448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B2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{{F1}}%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2606040" y="2368296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характеристик</a:t>
            </a:r>
            <a:endParaRPr lang="en-US" sz="1400" dirty="0"/>
          </a:p>
        </p:txBody>
      </p:sp>
      <p:sp>
        <p:nvSpPr>
          <p:cNvPr id="11" name="stat2"/>
          <p:cNvSpPr/>
          <p:nvPr/>
        </p:nvSpPr>
        <p:spPr>
          <a:xfrm>
            <a:off x="4572000" y="1463040"/>
            <a:ext cx="187452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663440" y="155448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B2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{{ERR_RECALL}}%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368296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ошибок</a:t>
            </a:r>
            <a:endParaRPr lang="en-US" sz="1400" dirty="0"/>
          </a:p>
        </p:txBody>
      </p:sp>
      <p:sp>
        <p:nvSpPr>
          <p:cNvPr id="14" name="stat3"/>
          <p:cNvSpPr/>
          <p:nvPr/>
        </p:nvSpPr>
        <p:spPr>
          <a:xfrm>
            <a:off x="6629400" y="1463040"/>
            <a:ext cx="187452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720840" y="155448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B2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{{P95_MS}} мс</a:t>
            </a:r>
            <a:endParaRPr lang="en-US" sz="3200" dirty="0"/>
          </a:p>
        </p:txBody>
      </p:sp>
      <p:sp>
        <p:nvSpPr>
          <p:cNvPr id="16" name="Text 14"/>
          <p:cNvSpPr txBox="1"/>
          <p:nvPr/>
        </p:nvSpPr>
        <p:spPr>
          <a:xfrm>
            <a:off x="6720840" y="2368296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задержка (CPU)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43484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Метрики: eval/report.md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Масштабируемость, скорость, ограничения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11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589520" y="47548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B2B21"/>
                </a:solidFill>
              </a:rPr>
              <a:t>5 мин</a:t>
            </a:r>
            <a:endParaRPr lang="en-US" sz="1000" dirty="0"/>
          </a:p>
        </p:txBody>
      </p:sp>
      <p:sp>
        <p:nvSpPr>
          <p:cNvPr id="5" name="col0"/>
          <p:cNvSpPr/>
          <p:nvPr/>
        </p:nvSpPr>
        <p:spPr>
          <a:xfrm>
            <a:off x="457200" y="1097280"/>
            <a:ext cx="402336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85800" y="12344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B2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Скорость и масштаб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828800"/>
            <a:ext cx="3566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&lt;= 300 мс на CPU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&gt;= 50 RPS на реплику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Stateless-реплики за nginx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индекс, RAM &lt;= 2 ГБ</a:t>
            </a:r>
            <a:endParaRPr lang="en-US" sz="1600" dirty="0"/>
          </a:p>
        </p:txBody>
      </p:sp>
      <p:sp>
        <p:nvSpPr>
          <p:cNvPr id="8" name="col1"/>
          <p:cNvSpPr/>
          <p:nvPr/>
        </p:nvSpPr>
        <p:spPr>
          <a:xfrm>
            <a:off x="4663440" y="1097280"/>
            <a:ext cx="402336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892040" y="12344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B2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Соответствие правилам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828800"/>
            <a:ext cx="3566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Linux, веб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VRAM 0 ГБ (лимит 40 ГБ)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проприетарных LLM и платных API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low-code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 и следующие шаги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12</a:t>
            </a:r>
            <a:endParaRPr lang="en-US" sz="1000" dirty="0"/>
          </a:p>
        </p:txBody>
      </p:sp>
      <p:sp>
        <p:nvSpPr>
          <p:cNvPr id="4" name="col0"/>
          <p:cNvSpPr/>
          <p:nvPr/>
        </p:nvSpPr>
        <p:spPr>
          <a:xfrm>
            <a:off x="457200" y="1097280"/>
            <a:ext cx="402336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85800" y="12344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B2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 (заполнить)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828800"/>
            <a:ext cx="3566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[Имя] - бэкенд, алгоритмы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[Имя] - фронтенд, UI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[Имя] - данные, ETL, eval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[Имя] - презентация, BPMN</a:t>
            </a:r>
            <a:endParaRPr lang="en-US" sz="1600" dirty="0"/>
          </a:p>
        </p:txBody>
      </p:sp>
      <p:sp>
        <p:nvSpPr>
          <p:cNvPr id="7" name="col1"/>
          <p:cNvSpPr/>
          <p:nvPr/>
        </p:nvSpPr>
        <p:spPr>
          <a:xfrm>
            <a:off x="4663440" y="1097280"/>
            <a:ext cx="402336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892040" y="12344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B2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Дальше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4892040" y="1828800"/>
            <a:ext cx="3566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ЕИС: автообновление КТРУ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Дообучение ранжирования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категории КТРУ, пакетная обработка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Интеграция в форму СТЕ портала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Автозаполнение СТЕ по КТРУ</dc:title>
  <dc:subject>PptxGenJS Presentation</dc:subject>
  <dc:creator>PptxGenJS</dc:creator>
  <cp:lastModifiedBy>PptxGenJS</cp:lastModifiedBy>
  <cp:revision>1</cp:revision>
  <dcterms:created xsi:type="dcterms:W3CDTF">2026-10-10T00:26:19Z</dcterms:created>
  <dcterms:modified xsi:type="dcterms:W3CDTF">2026-10-10T00:26:19Z</dcterms:modified>
</cp:coreProperties>
</file>